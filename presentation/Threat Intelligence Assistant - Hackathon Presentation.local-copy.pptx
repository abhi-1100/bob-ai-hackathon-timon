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FFFFFF"/>
                </a:solidFill>
                <a:latin typeface="Calibri"/>
              </a:rPr>
              <a:t>Test Suite Breakdown — 106/106 Passed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 Passed</c:v>
                </c:pt>
              </c:strCache>
            </c:strRef>
          </c:tx>
          <c:spPr>
            <a:solidFill>
              <a:srgbClr val="60A5F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Upload</c:v>
                </c:pt>
                <c:pt idx="1">
                  <c:v>CSV Parse</c:v>
                </c:pt>
                <c:pt idx="2">
                  <c:v>Correlat.</c:v>
                </c:pt>
                <c:pt idx="3">
                  <c:v>MITRE</c:v>
                </c:pt>
                <c:pt idx="4">
                  <c:v>Risk</c:v>
                </c:pt>
                <c:pt idx="5">
                  <c:v>Recomm.</c:v>
                </c:pt>
                <c:pt idx="6">
                  <c:v>Report</c:v>
                </c:pt>
                <c:pt idx="7">
                  <c:v>Workflow</c:v>
                </c:pt>
                <c:pt idx="8">
                  <c:v>Chat RAG</c:v>
                </c:pt>
                <c:pt idx="9">
                  <c:v>E2E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</c:v>
                </c:pt>
                <c:pt idx="1">
                  <c:v>7</c:v>
                </c:pt>
                <c:pt idx="2">
                  <c:v>10</c:v>
                </c:pt>
                <c:pt idx="3">
                  <c:v>12</c:v>
                </c:pt>
                <c:pt idx="4">
                  <c:v>13</c:v>
                </c:pt>
                <c:pt idx="5">
                  <c:v>14</c:v>
                </c:pt>
                <c:pt idx="6">
                  <c:v>13</c:v>
                </c:pt>
                <c:pt idx="7">
                  <c:v>8</c:v>
                </c:pt>
                <c:pt idx="8">
                  <c:v>20</c:v>
                </c:pt>
                <c:pt idx="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7F-4374-B41A-9A0ED9B5CC2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F2937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0A0E1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A0E1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5219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937760" cy="384048"/>
          </a:xfrm>
          <a:prstGeom prst="roundRect">
            <a:avLst>
              <a:gd name="adj" fmla="val 50000"/>
            </a:avLst>
          </a:prstGeom>
          <a:solidFill>
            <a:srgbClr val="13213B"/>
          </a:solidFill>
          <a:ln w="12700">
            <a:solidFill>
              <a:srgbClr val="23407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AI INNOVATION HACKATHON 2026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Threat Intelligence &amp;
</a:t>
            </a:r>
            <a:r>
              <a:rPr lang="en-US" sz="42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Prioritisation Assistant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1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thousands of noisy security alerts into correlated attack chains, automated MITRE ATT&amp;CK mappings, multi-factor risk scores, and executive-ready BLUF intelligence reports.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43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99.2%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Noise Reduction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4343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3.0s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Latency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4343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106/106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224528"/>
            <a:ext cx="1024128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580644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0F1522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58064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Statement: 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Now — Threat Intelligence Correlation &amp; Alert Prioritisation
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58064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[Timon]</a:t>
            </a:r>
            <a:endParaRPr lang="en-US" sz="12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88AED5B-EF19-B388-D92D-D45918DCA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229" y="178791"/>
            <a:ext cx="983542" cy="10556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Analysts Are Drowning in Alerts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and SOC analysts are flooded with thousands of daily alerts from SIEM systems, satellite feeds, cyber sensors, and intelligence reports — each in a different format. No human team can manually triage this volume.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6309360" cy="914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3291840"/>
            <a:ext cx="457200" cy="45720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315468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a genuine threat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347472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attack chain gets buried in the noise and goes unnoticed until damage is done.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6309360" cy="914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4343400"/>
            <a:ext cx="457200" cy="45720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420624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Wasting critical resources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52628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burn hours chasing false positives instead of investigating real intrusions.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178040" y="1554480"/>
            <a:ext cx="4462272" cy="1965960"/>
          </a:xfrm>
          <a:prstGeom prst="roundRect">
            <a:avLst>
              <a:gd name="adj" fmla="val 3721"/>
            </a:avLst>
          </a:prstGeom>
          <a:solidFill>
            <a:srgbClr val="13213B"/>
          </a:solidFill>
          <a:ln w="12700">
            <a:solidFill>
              <a:srgbClr val="23407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498080" y="18288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10,000+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26060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alerts a SOC may face daily — collapsing them into a handful of prioritized attack chains is the only way to keep up.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178040" y="3703320"/>
            <a:ext cx="4462272" cy="2240280"/>
          </a:xfrm>
          <a:prstGeom prst="roundRect">
            <a:avLst>
              <a:gd name="adj" fmla="val 3265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52360" y="393192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5236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001000" y="3931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Commanders need BLUF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443484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assessments must be delivered Bottom-Line-Up-Front so commanders can decide in minutes, not hours of reading raw logs.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THREATINTEL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Pipeline: Alerts In, Decisions 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603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Multi-source, multi-format threat alerts via CSV batch upload.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4592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92024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5603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raw alerts into coherent attack chains to separate signal from noise.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64592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192024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098280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to MITRE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5603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attacker behaviour to the MITRE ATT&amp;CK framework.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11480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114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7548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threats with a deterministic 0-100 risk model.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384048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411480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1772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5303520" y="4114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BLUF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47548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AI-assisted, commander-ready executive reports.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38160" y="384048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0" y="411480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1248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9098280" y="4114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412480" y="47548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Analyst Chat, grounded strictly in retrieved data.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THREATINTEL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21792" y="1993392"/>
            <a:ext cx="1453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Alerts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74320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/ OSINT feeds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67128" y="2455164"/>
            <a:ext cx="128016" cy="164592"/>
          </a:xfrm>
          <a:prstGeom prst="rightArrow">
            <a:avLst/>
          </a:prstGeom>
          <a:solidFill>
            <a:srgbClr val="60A5FA"/>
          </a:solidFill>
          <a:ln/>
        </p:spPr>
      </p:sp>
      <p:sp>
        <p:nvSpPr>
          <p:cNvPr id="8" name="Shape 6"/>
          <p:cNvSpPr/>
          <p:nvPr/>
        </p:nvSpPr>
        <p:spPr>
          <a:xfrm>
            <a:off x="2331720" y="182880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404872" y="1993392"/>
            <a:ext cx="1453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&amp;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404872" y="274320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PostgreSQL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950208" y="2455164"/>
            <a:ext cx="128016" cy="164592"/>
          </a:xfrm>
          <a:prstGeom prst="rightArrow">
            <a:avLst/>
          </a:prstGeom>
          <a:solidFill>
            <a:srgbClr val="60A5FA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182880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187952" y="1993392"/>
            <a:ext cx="1453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187952" y="274320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clustering + kill-chain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33288" y="2455164"/>
            <a:ext cx="128016" cy="164592"/>
          </a:xfrm>
          <a:prstGeom prst="rightArrow">
            <a:avLst/>
          </a:prstGeom>
          <a:solidFill>
            <a:srgbClr val="60A5FA"/>
          </a:solidFill>
          <a:ln/>
        </p:spPr>
      </p:sp>
      <p:sp>
        <p:nvSpPr>
          <p:cNvPr id="16" name="Shape 14"/>
          <p:cNvSpPr/>
          <p:nvPr/>
        </p:nvSpPr>
        <p:spPr>
          <a:xfrm>
            <a:off x="5897880" y="182880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13213B"/>
          </a:solidFill>
          <a:ln w="12700">
            <a:solidFill>
              <a:srgbClr val="23407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971032" y="1993392"/>
            <a:ext cx="1453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971032" y="274320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→ Risk → Recs → BLUF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516368" y="2455164"/>
            <a:ext cx="128016" cy="164592"/>
          </a:xfrm>
          <a:prstGeom prst="rightArrow">
            <a:avLst/>
          </a:prstGeom>
          <a:solidFill>
            <a:srgbClr val="60A5FA"/>
          </a:solidFill>
          <a:ln/>
        </p:spPr>
      </p:sp>
      <p:sp>
        <p:nvSpPr>
          <p:cNvPr id="20" name="Shape 18"/>
          <p:cNvSpPr/>
          <p:nvPr/>
        </p:nvSpPr>
        <p:spPr>
          <a:xfrm>
            <a:off x="7680960" y="182880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754112" y="1993392"/>
            <a:ext cx="1453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Qdrant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Index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754112" y="274320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FastEmbed embeddings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299448" y="2455164"/>
            <a:ext cx="128016" cy="164592"/>
          </a:xfrm>
          <a:prstGeom prst="rightArrow">
            <a:avLst/>
          </a:prstGeom>
          <a:solidFill>
            <a:srgbClr val="60A5FA"/>
          </a:solidFill>
          <a:ln/>
        </p:spPr>
      </p:sp>
      <p:sp>
        <p:nvSpPr>
          <p:cNvPr id="24" name="Shape 22"/>
          <p:cNvSpPr/>
          <p:nvPr/>
        </p:nvSpPr>
        <p:spPr>
          <a:xfrm>
            <a:off x="9464040" y="182880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537192" y="1993392"/>
            <a:ext cx="1453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Analyst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537192" y="274320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3.3 70B, RAG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379476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0F1522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2296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437083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system of record: uploads, alerts, attack chains, MITRE mappings, risk scores, recommendations, BLUF reports, chat history.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897880" y="3794760"/>
            <a:ext cx="5166360" cy="1234440"/>
          </a:xfrm>
          <a:prstGeom prst="roundRect">
            <a:avLst>
              <a:gd name="adj" fmla="val 5926"/>
            </a:avLst>
          </a:prstGeom>
          <a:solidFill>
            <a:srgbClr val="0F1522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172200" y="3977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Zero-Hallucination Chat Loop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172200" y="437083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Analyst → retrieve_node (vector search) → answer_node (grounded LLM) → memory_node (persist) → explainable response.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525780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960" y="52578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•  LangGraph  •  Groq (Llama 3.3 70B)  •  Qdrant  •  PostgreSQL  •  Pydantic V2  •  FastEmbed (BAAI/bge-small-en-v1.5)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THREATINTEL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Correlation Engine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alerts sharing a source IP are grouped, split by a 30-minute quiet-period sliding window, then ordered to reflect real attacker progression — turning a flood of alerts into a single readable attack chain.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8892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832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Reconnaissance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319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PortScan, NetworkScan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995928" y="3575304"/>
            <a:ext cx="146304" cy="164592"/>
          </a:xfrm>
          <a:prstGeom prst="rightArrow">
            <a:avLst/>
          </a:prstGeom>
          <a:solidFill>
            <a:srgbClr val="60A5FA"/>
          </a:solidFill>
          <a:ln/>
        </p:spPr>
      </p:sp>
      <p:sp>
        <p:nvSpPr>
          <p:cNvPr id="11" name="Shape 9"/>
          <p:cNvSpPr/>
          <p:nvPr/>
        </p:nvSpPr>
        <p:spPr>
          <a:xfrm>
            <a:off x="4160520" y="251460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4840" y="278892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3484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33832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Access / Exploitation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39319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BruteForce, SqlInjection, ExploitAttempt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07808" y="3575304"/>
            <a:ext cx="146304" cy="164592"/>
          </a:xfrm>
          <a:prstGeom prst="rightArrow">
            <a:avLst/>
          </a:prstGeom>
          <a:solidFill>
            <a:srgbClr val="60A5FA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0" y="251460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0" y="278892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4672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33832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Post-Exploitation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39319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CredentialDumping, PrivilegeEscalation, CommandExecution, Malware, DataExfiltration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07492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13213B"/>
          </a:solidFill>
          <a:ln w="12700">
            <a:solidFill>
              <a:srgbClr val="23407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22960" y="507492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AC001  </a:t>
            </a: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source_ip 10.0.2.14  →  7 alerts  →  18 min span  →  auto-assigned identifiers AC001, AC002 ... for every correlated chain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THREATINTEL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 ATT&amp;CK Technique Mapping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events are matched against a curated technique knowledge base, deduplicated, and persisted — giving analysts standardized attacker intent instead of raw event names.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99484"/>
              </p:ext>
            </p:extLst>
          </p:nvPr>
        </p:nvGraphicFramePr>
        <p:xfrm>
          <a:off x="548640" y="2331720"/>
          <a:ext cx="10607040" cy="3593219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1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 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1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1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PortScan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T1046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Service Discovery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BruteForce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T1110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Brute Force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CredentialDumping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Credential Dumping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SqlInjection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T1190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Exploit Public-Facing Application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8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CommandExecution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T1059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 and Scripting Interpreter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Malware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T1204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Execution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DataExfiltration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T1041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Exfiltration Over C2 Channel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THREATINTEL</a:t>
            </a:r>
            <a:endParaRPr lang="en-US" sz="900" dirty="0"/>
          </a:p>
        </p:txBody>
      </p:sp>
      <p:sp>
        <p:nvSpPr>
          <p:cNvPr id="5" name="Text 4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Risk Scoring (0–100)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13213B"/>
          </a:solidFill>
          <a:ln w="12700">
            <a:solidFill>
              <a:srgbClr val="23407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Score  =  min ( 100,  Base Event Score  +  MITRE Technique Score  +  Kill-Chain Bonus 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29077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Severity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7355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40 · High 25 · Medium 15 · Low 5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033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matching alert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60520" y="274320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434840" y="29077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 Techniques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327355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points each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37033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at 30 points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0" y="274320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046720" y="29077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Kill-Chain Progression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327355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 / +20 / +30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37033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2 / 3 / 4+ stages reached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43484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4709160"/>
            <a:ext cx="201168" cy="20116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115568" y="45994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166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80–100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3200400" y="443484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74720" y="4709160"/>
            <a:ext cx="201168" cy="201168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767328" y="45994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474720" y="5166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60–79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5852160" y="443484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4709160"/>
            <a:ext cx="201168" cy="20116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19088" y="45994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126480" y="5166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40–59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8503920" y="443484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778240" y="4709160"/>
            <a:ext cx="201168" cy="20116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070848" y="45994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778240" y="5166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0–39</a:t>
            </a:r>
            <a:endParaRPr lang="en-US" sz="26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THREATINTEL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7-8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Agents: Recommendations &amp; BLUF Reports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3246120"/>
          </a:xfrm>
          <a:prstGeom prst="roundRect">
            <a:avLst>
              <a:gd name="adj" fmla="val 2254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10512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8105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Agent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6888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actions — high-priority containment (e.g. host isolation)</a:t>
            </a:r>
            <a:endParaRPr lang="en-US" sz="1250" dirty="0"/>
          </a:p>
          <a:p>
            <a:pPr marL="342900" indent="-342900" algn="l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 actions — network-level controls</a:t>
            </a:r>
            <a:endParaRPr lang="en-US" sz="1250" dirty="0"/>
          </a:p>
          <a:p>
            <a:pPr marL="342900" indent="-342900" algn="l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actions — forensics &amp; SIEM hunting queries</a:t>
            </a:r>
            <a:endParaRPr lang="en-US" sz="1250" dirty="0"/>
          </a:p>
          <a:p>
            <a:pPr marL="342900" indent="-342900" algn="l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actions — patching, hardening, MFA policy</a:t>
            </a:r>
            <a:endParaRPr lang="en-US" sz="1250" dirty="0"/>
          </a:p>
          <a:p>
            <a:pPr marL="342900" indent="-342900" algn="l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in plain business language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897880" y="1554480"/>
            <a:ext cx="5349240" cy="3246120"/>
          </a:xfrm>
          <a:prstGeom prst="roundRect">
            <a:avLst>
              <a:gd name="adj" fmla="val 2254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810512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7220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18105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BLUF Report Agent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2468880"/>
            <a:ext cx="4800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level (Critical / High / Medium / Low)</a:t>
            </a:r>
            <a:endParaRPr lang="en-US" sz="1250" dirty="0"/>
          </a:p>
          <a:p>
            <a:pPr marL="342900" indent="-342900" algn="l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who, what, when, business risk</a:t>
            </a:r>
            <a:endParaRPr lang="en-US" sz="1250" dirty="0"/>
          </a:p>
          <a:p>
            <a:pPr marL="342900" indent="-342900" algn="l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overview — chronological narrative</a:t>
            </a:r>
            <a:endParaRPr lang="en-US" sz="1250" dirty="0"/>
          </a:p>
          <a:p>
            <a:pPr marL="342900" indent="-342900" algn="l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assets &amp; MITRE summary</a:t>
            </a:r>
            <a:endParaRPr lang="en-US" sz="1250" dirty="0"/>
          </a:p>
          <a:p>
            <a:pPr marL="342900" indent="-342900" algn="l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 &amp; conclusion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10698480" cy="1005840"/>
          </a:xfrm>
          <a:prstGeom prst="roundRect">
            <a:avLst>
              <a:gd name="adj" fmla="val 7273"/>
            </a:avLst>
          </a:prstGeom>
          <a:solidFill>
            <a:srgbClr val="13213B"/>
          </a:solidFill>
          <a:ln w="12700">
            <a:solidFill>
              <a:srgbClr val="23407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525780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50292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agents run via Llama 3.3 70B on Groq — and both ship a deterministic, grounded fallback synthesizer. </a:t>
            </a: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GROQ_API_KEY is missing or the network fails, the platform still produces usable, threat-grounded output. All 106 tests pass with zero live network calls.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THREATINTEL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10-11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Analyst Chat — Grounded, Explainable RAG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13213B"/>
          </a:solidFill>
          <a:ln w="12700">
            <a:solidFill>
              <a:srgbClr val="23407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retrieve_node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71800" y="1906524"/>
            <a:ext cx="365760" cy="164592"/>
          </a:xfrm>
          <a:prstGeom prst="rightArrow">
            <a:avLst/>
          </a:prstGeom>
          <a:solidFill>
            <a:srgbClr val="60A5FA"/>
          </a:solidFill>
          <a:ln/>
        </p:spPr>
      </p:sp>
      <p:sp>
        <p:nvSpPr>
          <p:cNvPr id="7" name="Shape 5"/>
          <p:cNvSpPr/>
          <p:nvPr/>
        </p:nvSpPr>
        <p:spPr>
          <a:xfrm>
            <a:off x="3429000" y="160020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13213B"/>
          </a:solidFill>
          <a:ln w="12700">
            <a:solidFill>
              <a:srgbClr val="23407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29000" y="16002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answer_node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52160" y="1906524"/>
            <a:ext cx="365760" cy="164592"/>
          </a:xfrm>
          <a:prstGeom prst="rightArrow">
            <a:avLst/>
          </a:prstGeom>
          <a:solidFill>
            <a:srgbClr val="60A5FA"/>
          </a:solidFill>
          <a:ln/>
        </p:spPr>
      </p:sp>
      <p:sp>
        <p:nvSpPr>
          <p:cNvPr id="10" name="Shape 8"/>
          <p:cNvSpPr/>
          <p:nvPr/>
        </p:nvSpPr>
        <p:spPr>
          <a:xfrm>
            <a:off x="6309360" y="160020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13213B"/>
          </a:solidFill>
          <a:ln w="12700">
            <a:solidFill>
              <a:srgbClr val="23407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09360" y="16002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memory_node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5146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vector search (BAAI/bge-small-en-v1.5, 384-dim, cosine) surfaces the top matching attack chains, reports &amp; MITRE records before the LLM ever answers.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512064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" y="3474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 Rules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93192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a Senior Cybersecurity Threat Analyst</a:t>
            </a:r>
            <a:endParaRPr lang="en-US" sz="12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strictly from retrieved intelligence data</a:t>
            </a:r>
            <a:endParaRPr lang="en-US" sz="12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invents or fabricates incidents</a:t>
            </a:r>
            <a:endParaRPr lang="en-US" sz="12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flags when intel is unavailable</a:t>
            </a:r>
            <a:endParaRPr lang="en-US" sz="12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surfaces: Threat Summary, Risk Assessment, MITRE Techniques, Recommended Actions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97880" y="3246120"/>
            <a:ext cx="5349240" cy="2788920"/>
          </a:xfrm>
          <a:prstGeom prst="roundRect">
            <a:avLst>
              <a:gd name="adj" fmla="val 2623"/>
            </a:avLst>
          </a:prstGeom>
          <a:solidFill>
            <a:srgbClr val="13213B"/>
          </a:solidFill>
          <a:ln w="12700">
            <a:solidFill>
              <a:srgbClr val="23407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502152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17220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5021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Zero-Hallucination Guarantee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416052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matching threat intelligence records or attack chains were found for your query.”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49834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verbatim whenever vector search comes back empty — the UI never implies an answer is more certain than the data supports.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THREATINTEL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404872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80720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ASGI backend, Python 3.11+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192024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2044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93008" y="2404872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493008" y="280720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State-machine orchestration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92024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6364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36208" y="2404872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· Llama 3.3 70B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36208" y="280720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&amp; BLUF generation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778240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06840" y="192024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00684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979408" y="2404872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Qdrant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979408" y="280720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DB, cosine similarity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3832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361188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" y="4096512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FastEmbed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" y="449884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BAAI/bge-small-en-v1.5 embeddings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91840" y="33832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20440" y="361188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52044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3493008" y="4096512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15+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3493008" y="449884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2.0 ORM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35040" y="33832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63640" y="361188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26364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236208" y="4096512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V2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236208" y="449884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schema validation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778240" y="33832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006840" y="361188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00684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8979408" y="4096512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8979408" y="449884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 automated tests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THREATINTEL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Validation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0F1522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7099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106/106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219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60020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0F1522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29000" y="17099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52.41s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2219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Suite Runtime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160020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0F1522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126480" y="17099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3.0s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2219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10,000-Alert Correlation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41080" y="160020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0F1522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823960" y="17099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823960" y="22219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 Claims</a:t>
            </a:r>
            <a:endParaRPr lang="en-US" sz="11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48640" y="2880360"/>
          <a:ext cx="105156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THREATINTEL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Flow — Upload to Decision in Minutes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0594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805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60020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sample multi-source CSV of alerts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89320" y="160020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90488" y="180594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90488" y="1805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12280" y="160020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raw alerts collapse into a handful of attack chains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6334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2839212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28392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2633472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into a high-risk chain — MITRE mapping &amp; kill-chain progression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89320" y="26334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0488" y="2839212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190488" y="28392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2633472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risk score breakdown &amp; global risk distribution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66674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3872484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9808" y="38724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3666744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generated Recommendations panel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989320" y="366674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90488" y="3872484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90488" y="38724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812280" y="3666744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Executive BLUF report — commander-ready in seconds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700016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" y="4905756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49808" y="49057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371600" y="4700016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AI Analyst Chat a grounded follow-up question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989320" y="4700016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90488" y="4905756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190488" y="49057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812280" y="4700016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 unanswerable question — see the zero-hallucination fallback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THREATINTEL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461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Correlation &amp; Alert Prioritisation Assistant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Live Demo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27448" y="466344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13213B"/>
          </a:solidFill>
          <a:ln w="12700">
            <a:solidFill>
              <a:srgbClr val="2340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727448" y="4663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AI Innovation Hackathon 2026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THREATINTEL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1183</Words>
  <Application>Microsoft Office PowerPoint</Application>
  <PresentationFormat>Widescreen</PresentationFormat>
  <Paragraphs>259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abhi kakadiya</cp:lastModifiedBy>
  <cp:revision>4</cp:revision>
  <dcterms:created xsi:type="dcterms:W3CDTF">2026-09-15T05:57:16Z</dcterms:created>
  <dcterms:modified xsi:type="dcterms:W3CDTF">2026-09-15T06:48:25Z</dcterms:modified>
</cp:coreProperties>
</file>